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4" r:id="rId17"/>
    <p:sldId id="275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50" d="100"/>
          <a:sy n="150" d="100"/>
        </p:scale>
        <p:origin x="288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65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029200" cy="50292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4114800" cy="4114800"/>
          </a:xfrm>
          <a:prstGeom prst="ellipse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Georgia" panose="02040502050405020303"/>
              </a:rPr>
              <a:t>A La Carte.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560320"/>
            <a:ext cx="2926080" cy="457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73152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1" i="0">
                <a:solidFill>
                  <a:srgbClr val="F5C542"/>
                </a:solidFill>
                <a:latin typeface="Calibri" panose="020F0502020204030204"/>
              </a:rPr>
              <a:t>SISTEM DE OPERARE PENTRU RESTAURANTE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D0"/>
                </a:solidFill>
                <a:latin typeface="Calibri" panose="020F0502020204030204"/>
              </a:rPr>
              <a:t>Meniu digital interactiv · Comenzi în timp real · AI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31920"/>
            <a:ext cx="1828800" cy="34747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7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Django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931920"/>
            <a:ext cx="18288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0128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Supabase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931920"/>
            <a:ext cx="1828800" cy="34747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13248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12"/>
                </a:solidFill>
                <a:latin typeface="Calibri" panose="020F0502020204030204"/>
              </a:rPr>
              <a:t>AI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Metode de Dezvoltare a Sistemelor Software  ·  2025–2026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0" y="365760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44784" y="365760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73968" y="365760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80192" y="530352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009376" y="530352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15600" y="694944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844784" y="694944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173968" y="694944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80192" y="859536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009376" y="859536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15600" y="1024128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44784" y="1024128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73968" y="1024128"/>
            <a:ext cx="91440" cy="91440"/>
          </a:xfrm>
          <a:prstGeom prst="ellipse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9503" y="4560143"/>
            <a:ext cx="5750624" cy="922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Stefan Petru-</a:t>
            </a:r>
            <a:r>
              <a:rPr lang="en-US" dirty="0" err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Stoiciu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Petrescu Ciprian-Adrian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 err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Pochea</a:t>
            </a:r>
            <a:r>
              <a:rPr lang="en-US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 Eduard Ionut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Problema &amp; Soluția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De ce am construit ALaCarteOS?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212080" cy="5029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5720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EF4444"/>
                </a:solidFill>
                <a:latin typeface="Calibri" panose="020F0502020204030204"/>
              </a:rPr>
              <a:t>Problemele</a:t>
            </a:r>
            <a:r>
              <a:rPr sz="1500" b="1" i="0" dirty="0">
                <a:solidFill>
                  <a:srgbClr val="EF4444"/>
                </a:solidFill>
                <a:latin typeface="Calibri" panose="020F0502020204030204"/>
              </a:rPr>
              <a:t> </a:t>
            </a:r>
            <a:r>
              <a:rPr sz="1500" b="1" i="0" dirty="0" err="1">
                <a:solidFill>
                  <a:srgbClr val="EF4444"/>
                </a:solidFill>
                <a:latin typeface="Calibri" panose="020F0502020204030204"/>
              </a:rPr>
              <a:t>Actuale</a:t>
            </a:r>
            <a:endParaRPr sz="1500" b="1" i="0" dirty="0">
              <a:solidFill>
                <a:srgbClr val="EF4444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Meniuri fizice — costisitoare și greu de actualizat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24327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Ospătari suprasolicitați → erori la luarea comenzilor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74135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Nicio analiză a datelor de vânzări în timp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23944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Experiență client lentă și impersonală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7375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Stocuri gestionate manual, fără automatizare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34440"/>
            <a:ext cx="5760720" cy="5029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234440"/>
            <a:ext cx="45720" cy="502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22C55E"/>
                </a:solidFill>
                <a:latin typeface="Calibri" panose="020F0502020204030204"/>
              </a:rPr>
              <a:t>Soluția</a:t>
            </a:r>
            <a:r>
              <a:rPr sz="1500" b="1" i="0" dirty="0">
                <a:solidFill>
                  <a:srgbClr val="22C55E"/>
                </a:solidFill>
                <a:latin typeface="Calibri" panose="020F0502020204030204"/>
              </a:rPr>
              <a:t> </a:t>
            </a:r>
            <a:r>
              <a:rPr sz="1500" b="1" i="0" dirty="0" err="1">
                <a:solidFill>
                  <a:srgbClr val="22C55E"/>
                </a:solidFill>
                <a:latin typeface="Calibri" panose="020F0502020204030204"/>
              </a:rPr>
              <a:t>Noastră</a:t>
            </a:r>
            <a:endParaRPr sz="1500" b="1" i="0" dirty="0">
              <a:solidFill>
                <a:srgbClr val="22C55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19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Meniu digital accesat instant prin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24327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Comenzi directe fără intervenția ospătarului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74135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AI Analytics — statistici automate zilnice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2394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Chatbot AI cu recomandări personalizate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737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  Backend Django + Supabase scalabil și rapid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Arhitectura Sistemului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Cum comunică componentele — flux complet de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18288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8930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 panose="020F0502020204030204"/>
              </a:rPr>
              <a:t>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55064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HTML5 · CSS3
Bootstrap 5
JavaScript ES6
Font Awesome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2743200" cy="18288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234440"/>
            <a:ext cx="2743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28930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 panose="020F0502020204030204"/>
              </a:rPr>
              <a:t>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655064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Django 5.x
Views &amp; URLs
Decorators custom
ORM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234440"/>
            <a:ext cx="2743200" cy="18288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1234440"/>
            <a:ext cx="2743200" cy="347472"/>
          </a:xfrm>
          <a:prstGeom prst="rect">
            <a:avLst/>
          </a:prstGeom>
          <a:solidFill>
            <a:srgbClr val="06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59" y="128930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 panose="020F0502020204030204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655064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Supabase
PostgreSQL
RLS Policies
Real-time subs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234440"/>
            <a:ext cx="1920240" cy="18288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875520" y="1234440"/>
            <a:ext cx="1920240" cy="34747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1289304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A0A12"/>
                </a:solidFill>
                <a:latin typeface="Calibri" panose="020F0502020204030204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655064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Chatbot (WIP)
AI Analytics
Recomandări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7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8BFF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8BFF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8BFF"/>
                </a:solidFill>
                <a:latin typeface="Calibri" panose="020F0502020204030204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461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8BFF"/>
                </a:solidFill>
                <a:latin typeface="Calibri" panose="020F0502020204030204"/>
              </a:rPr>
              <a:t>FLUXUL DE DATE — EXEMPLU PLASARE COMANDĂ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11880"/>
            <a:ext cx="2148840" cy="12618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611880"/>
            <a:ext cx="2148840" cy="36576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59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069080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Client adaugă
produs în coș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400507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5"/>
                </a:solidFill>
                <a:latin typeface="Calibri" panose="020F0502020204030204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0048" y="3611880"/>
            <a:ext cx="2148840" cy="12618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70048" y="3611880"/>
            <a:ext cx="21488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15768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4069080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JS trimite POST
către Django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400507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5"/>
                </a:solidFill>
                <a:latin typeface="Calibri" panose="020F0502020204030204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0056" y="3611880"/>
            <a:ext cx="2148840" cy="12618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0056" y="3611880"/>
            <a:ext cx="2148840" cy="36576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65776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4069080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Django validează
date + autorizare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400507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5"/>
                </a:solidFill>
                <a:latin typeface="Calibri" panose="020F0502020204030204"/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70064" y="3611880"/>
            <a:ext cx="2148840" cy="12618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70064" y="3611880"/>
            <a:ext cx="2148840" cy="365760"/>
          </a:xfrm>
          <a:prstGeom prst="rect">
            <a:avLst/>
          </a:prstGeom>
          <a:solidFill>
            <a:srgbClr val="06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15784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1504" y="4069080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Insert în
Supabase (SQL)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400507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3A55"/>
                </a:solidFill>
                <a:latin typeface="Calibri" panose="020F0502020204030204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20072" y="3611880"/>
            <a:ext cx="2148840" cy="12618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20072" y="3611880"/>
            <a:ext cx="2148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65792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1512" y="4069080"/>
            <a:ext cx="1965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Comanda apare
la Staff instant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0292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 panose="020F0502020204030204"/>
              </a:rPr>
              <a:t>SECURITATE &amp; ROLURI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376672"/>
            <a:ext cx="3749039" cy="111556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040" y="5376672"/>
            <a:ext cx="45720" cy="111556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542239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388BFF"/>
                </a:solidFill>
                <a:latin typeface="Calibri" panose="020F0502020204030204"/>
              </a:rPr>
              <a:t> Client / Guest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7607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Acces anonim via token QR. Nu necesită cont. Poate vedea meniu și plasa comenzi.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59" y="5376672"/>
            <a:ext cx="3749039" cy="111556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51959" y="5376672"/>
            <a:ext cx="45720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0" y="542239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7C3AED"/>
                </a:solidFill>
                <a:latin typeface="Calibri" panose="020F0502020204030204"/>
              </a:rPr>
              <a:t>Staff (</a:t>
            </a:r>
            <a:r>
              <a:rPr sz="1100" b="1" i="0" dirty="0" err="1">
                <a:solidFill>
                  <a:srgbClr val="7C3AED"/>
                </a:solidFill>
                <a:latin typeface="Calibri" panose="020F0502020204030204"/>
              </a:rPr>
              <a:t>Ospătar</a:t>
            </a:r>
            <a:r>
              <a:rPr sz="1100" b="1" i="0" dirty="0">
                <a:solidFill>
                  <a:srgbClr val="7C3AED"/>
                </a:solidFill>
                <a:latin typeface="Calibri" panose="020F0502020204030204"/>
              </a:rPr>
              <a:t>/</a:t>
            </a:r>
            <a:r>
              <a:rPr sz="1100" b="1" i="0" dirty="0" err="1">
                <a:solidFill>
                  <a:srgbClr val="7C3AED"/>
                </a:solidFill>
                <a:latin typeface="Calibri" panose="020F0502020204030204"/>
              </a:rPr>
              <a:t>Bucătar</a:t>
            </a:r>
            <a:r>
              <a:rPr sz="1100" b="1" i="0" dirty="0">
                <a:solidFill>
                  <a:srgbClr val="7C3AED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57607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Autentificare cu ID angajat. Decorator Django verifică grupul înainte de orice view.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5376672"/>
            <a:ext cx="3749039" cy="111556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83879" y="5376672"/>
            <a:ext cx="45720" cy="111556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66759" y="542239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5C542"/>
                </a:solidFill>
                <a:latin typeface="Calibri" panose="020F0502020204030204"/>
              </a:rPr>
              <a:t>Admin (Superuser)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59" y="57607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is_superuser=True. Bypass complet al tuturor restricțiilor. CRUD total.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Autentificare &amp; Roluri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Trei tipuri de acces, o singură pagină elegantă</a:t>
            </a:r>
          </a:p>
        </p:txBody>
      </p:sp>
      <p:pic>
        <p:nvPicPr>
          <p:cNvPr id="6" name="Picture 5" descr="pagina_princip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30352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234440"/>
            <a:ext cx="5852160" cy="1417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45720" cy="141732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4416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88BFF"/>
                </a:solidFill>
                <a:latin typeface="Calibri" panose="020F0502020204030204"/>
              </a:rPr>
              <a:t>Client / Guest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Scanează QR Code de pe masă → acces instant la meniu fără cont. Opțiune manuală cu cod masă.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834640"/>
            <a:ext cx="5852160" cy="1417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2834640"/>
            <a:ext cx="4572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94436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7C3AED"/>
                </a:solidFill>
                <a:latin typeface="Calibri" panose="020F0502020204030204"/>
              </a:rPr>
              <a:t>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3375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Login cu ID angajat + parolă. Rol specific: Ospătar sau Bucătar. Acces la dashboard comenzi.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434840"/>
            <a:ext cx="5852160" cy="14173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4434840"/>
            <a:ext cx="45720" cy="14173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454456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5C542"/>
                </a:solidFill>
                <a:latin typeface="Calibri" panose="020F0502020204030204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937759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Superuser Django. Acces complet la panou admin: produse, utilizatori, statistici, setări sistem.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Meniu Interactiv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Catalog de produse conectat live la Supabase</a:t>
            </a:r>
          </a:p>
        </p:txBody>
      </p:sp>
      <p:pic>
        <p:nvPicPr>
          <p:cNvPr id="6" name="Picture 5" descr="meniu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498079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371600"/>
            <a:ext cx="3657600" cy="13716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4813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388BFF"/>
                </a:solidFill>
                <a:latin typeface="Calibri" panose="020F0502020204030204"/>
              </a:rPr>
              <a:t>Categorii</a:t>
            </a:r>
            <a:r>
              <a:rPr sz="1300" b="1" i="0" dirty="0">
                <a:solidFill>
                  <a:srgbClr val="388BFF"/>
                </a:solidFill>
                <a:latin typeface="Calibri" panose="020F0502020204030204"/>
              </a:rPr>
              <a:t> </a:t>
            </a:r>
            <a:r>
              <a:rPr sz="1300" b="1" i="0" dirty="0" err="1">
                <a:solidFill>
                  <a:srgbClr val="388BFF"/>
                </a:solidFill>
                <a:latin typeface="Calibri" panose="020F0502020204030204"/>
              </a:rPr>
              <a:t>filtrabile</a:t>
            </a:r>
            <a:endParaRPr sz="1300" b="1" i="0" dirty="0">
              <a:solidFill>
                <a:srgbClr val="388B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66760" y="1874519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Signature Dishes, Garnituri, Băuturi — filtrare instant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971800"/>
            <a:ext cx="3657600" cy="13716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3081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 panose="020F0502020204030204"/>
              </a:rPr>
              <a:t>Date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747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Produsele vin direct din Supabase — zero hardcode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572000"/>
            <a:ext cx="3657600" cy="13716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4681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 panose="020F0502020204030204"/>
              </a:rPr>
              <a:t>Card elegant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074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Imagine, nume, descriere, preț și buton de comandă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Filtrare &amp; Search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Navigare rapidă prin meniu</a:t>
            </a:r>
          </a:p>
        </p:txBody>
      </p:sp>
      <p:pic>
        <p:nvPicPr>
          <p:cNvPr id="6" name="Picture 5" descr="poza_meniu_subcategor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577840" cy="4389120"/>
          </a:xfrm>
          <a:prstGeom prst="rect">
            <a:avLst/>
          </a:prstGeom>
        </p:spPr>
      </p:pic>
      <p:pic>
        <p:nvPicPr>
          <p:cNvPr id="7" name="Picture 6" descr="poza_search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7784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715000"/>
            <a:ext cx="5577840" cy="5486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Subcategorii — filtre rapide pe categorii de produse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715000"/>
            <a:ext cx="5577840" cy="54864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806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Search Bar — caută instant orice produs din meniu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Coș de Cumpărături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Adaugă, modifică, comandă — totul în câteva click-uri</a:t>
            </a:r>
          </a:p>
        </p:txBody>
      </p:sp>
      <p:pic>
        <p:nvPicPr>
          <p:cNvPr id="6" name="Picture 5" descr="poza_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303520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234440"/>
            <a:ext cx="5852160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07592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88BFF"/>
                </a:solidFill>
                <a:latin typeface="Calibri" panose="020F0502020204030204"/>
              </a:rPr>
              <a:t> </a:t>
            </a:r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Adăugare</a:t>
            </a:r>
            <a:r>
              <a:rPr sz="1200" b="1" i="0" dirty="0">
                <a:solidFill>
                  <a:srgbClr val="388BFF"/>
                </a:solidFill>
                <a:latin typeface="Calibri" panose="020F0502020204030204"/>
              </a:rPr>
              <a:t> </a:t>
            </a:r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rapidă</a:t>
            </a:r>
            <a:endParaRPr sz="1200" b="1" i="0" dirty="0">
              <a:solidFill>
                <a:srgbClr val="388B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0" y="1618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Buton direct pe cardul produsului, coșul se deschide automat.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03704"/>
            <a:ext cx="5852160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2203704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276856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Editare</a:t>
            </a:r>
            <a:r>
              <a:rPr sz="1200" b="1" i="0" dirty="0">
                <a:solidFill>
                  <a:srgbClr val="388BFF"/>
                </a:solidFill>
                <a:latin typeface="Calibri" panose="020F0502020204030204"/>
              </a:rPr>
              <a:t> </a:t>
            </a:r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cantitate</a:t>
            </a:r>
            <a:endParaRPr sz="1200" b="1" i="0" dirty="0">
              <a:solidFill>
                <a:srgbClr val="388B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0" y="2587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Butoane + și — pentru fiecare produs, cu ștergere automată la 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172968"/>
            <a:ext cx="5852160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3172968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3246120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Persistență</a:t>
            </a:r>
            <a:endParaRPr sz="1200" b="1" i="0" dirty="0">
              <a:solidFill>
                <a:srgbClr val="388B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35570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Coșul se salvează în localStorage — rezistă la reîncărcare pagină.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142232"/>
            <a:ext cx="5852160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4142232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4215384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88BFF"/>
                </a:solidFill>
                <a:latin typeface="Calibri" panose="020F0502020204030204"/>
              </a:rPr>
              <a:t>Total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26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Prețul total se recalculează instant la orice modificare a cantității.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5111496"/>
            <a:ext cx="5852160" cy="8229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0" y="5111496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5184648"/>
            <a:ext cx="5394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Plasare</a:t>
            </a:r>
            <a:r>
              <a:rPr sz="1200" b="1" i="0" dirty="0">
                <a:solidFill>
                  <a:srgbClr val="388BFF"/>
                </a:solidFill>
                <a:latin typeface="Calibri" panose="020F0502020204030204"/>
              </a:rPr>
              <a:t> </a:t>
            </a:r>
            <a:r>
              <a:rPr sz="1200" b="1" i="0" dirty="0" err="1">
                <a:solidFill>
                  <a:srgbClr val="388BFF"/>
                </a:solidFill>
                <a:latin typeface="Calibri" panose="020F0502020204030204"/>
              </a:rPr>
              <a:t>comandă</a:t>
            </a:r>
            <a:endParaRPr sz="1200" b="1" i="0" dirty="0">
              <a:solidFill>
                <a:srgbClr val="388B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54955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Butonul 'Trimite Comanda' salvează comanda direct în Supabase.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Plasarea Comenzii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De la click la baza de date — flux tehnic complet</a:t>
            </a:r>
          </a:p>
        </p:txBody>
      </p:sp>
      <p:pic>
        <p:nvPicPr>
          <p:cNvPr id="6" name="Picture 5" descr="poza_plasare_co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0292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234440"/>
            <a:ext cx="6126480" cy="89611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0" y="1234440"/>
            <a:ext cx="475488" cy="89611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87568" y="139903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0759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  <a:latin typeface="Calibri" panose="020F0502020204030204"/>
              </a:rPr>
              <a:t>Coș confirmat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Clientul verifică produsele și cantitățile în panoul lateral offcanvas.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86000"/>
            <a:ext cx="6126480" cy="89611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286000"/>
            <a:ext cx="475488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87568" y="245059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5915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 panose="020F0502020204030204"/>
              </a:rPr>
              <a:t>Apasă 'Trimite Comanda'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Event listener JavaScript preia datele din coș (localStorage).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337560"/>
            <a:ext cx="6126480" cy="89611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3337560"/>
            <a:ext cx="475488" cy="89611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350215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1071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8BFF"/>
                </a:solidFill>
                <a:latin typeface="Calibri" panose="020F0502020204030204"/>
              </a:rPr>
              <a:t>Request HTTP la Django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Fetch API trimite JSON cu produsele și masa_id la view-ul Django.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389120"/>
            <a:ext cx="6126480" cy="89611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0" y="4389120"/>
            <a:ext cx="475488" cy="896112"/>
          </a:xfrm>
          <a:prstGeom prst="rect">
            <a:avLst/>
          </a:prstGeom>
          <a:solidFill>
            <a:srgbClr val="06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87568" y="455371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6227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9578"/>
                </a:solidFill>
                <a:latin typeface="Calibri" panose="020F0502020204030204"/>
              </a:rPr>
              <a:t>Insert în 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80060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Django creează înregistrări în tabelele comenzi și articole_comanda.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5440679"/>
            <a:ext cx="6126480" cy="89611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0" y="5440679"/>
            <a:ext cx="475488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87568" y="5605271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13831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 panose="020F0502020204030204"/>
              </a:rPr>
              <a:t>Coș golit + confirmare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852159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localStorage se resetează, UI afișează mesaj de succes clientului.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559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8BFF"/>
                </a:solidFill>
                <a:latin typeface="Calibri" panose="020F0502020204030204"/>
              </a:rPr>
              <a:t>FORMAT DATE — comenzi în Supabase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52160"/>
            <a:ext cx="5029200" cy="74980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897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 panose="020F0502020204030204"/>
              </a:rPr>
              <a:t>masa_id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44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0"/>
                </a:solidFill>
                <a:latin typeface="Calibri" panose="020F0502020204030204"/>
              </a:rPr>
              <a:t>int8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897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 panose="020F0502020204030204"/>
              </a:rPr>
              <a:t>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6144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0"/>
                </a:solidFill>
                <a:latin typeface="Calibri" panose="020F0502020204030204"/>
              </a:rPr>
              <a:t>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897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 panose="020F0502020204030204"/>
              </a:rPr>
              <a:t>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6144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0"/>
                </a:solidFill>
                <a:latin typeface="Calibri" panose="020F0502020204030204"/>
              </a:rPr>
              <a:t>numeric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5897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8BFF"/>
                </a:solidFill>
                <a:latin typeface="Calibri" panose="020F0502020204030204"/>
              </a:rPr>
              <a:t>created_at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6144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0"/>
                </a:solidFill>
                <a:latin typeface="Calibri" panose="020F0502020204030204"/>
              </a:rPr>
              <a:t>timestamptz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Dashboard Comenzi —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Ospătarii și bucătarii văd comenzile în timp real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F83942-58CB-E082-8D1B-7EC5FF297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2144"/>
            <a:ext cx="9813925" cy="5042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Panoul de Administrare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Control total al restaurantului dintr-un singur loc</a:t>
            </a:r>
          </a:p>
        </p:txBody>
      </p:sp>
      <p:pic>
        <p:nvPicPr>
          <p:cNvPr id="6" name="Picture 5" descr="panou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577840" cy="4114800"/>
          </a:xfrm>
          <a:prstGeom prst="rect">
            <a:avLst/>
          </a:prstGeom>
        </p:spPr>
      </p:pic>
      <p:pic>
        <p:nvPicPr>
          <p:cNvPr id="7" name="Picture 6" descr="poza_admin_p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7784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394960"/>
            <a:ext cx="557784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Panou Principal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394960"/>
            <a:ext cx="557784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Admin Panel Django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Gestionare Produse &amp; Utilizatori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CRUD complet direct din interfața Django Admin</a:t>
            </a:r>
          </a:p>
        </p:txBody>
      </p:sp>
      <p:pic>
        <p:nvPicPr>
          <p:cNvPr id="6" name="Picture 5" descr="poza_admin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577840" cy="4114800"/>
          </a:xfrm>
          <a:prstGeom prst="rect">
            <a:avLst/>
          </a:prstGeom>
        </p:spPr>
      </p:pic>
      <p:pic>
        <p:nvPicPr>
          <p:cNvPr id="7" name="Picture 6" descr="poze_tabela prod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7784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394960"/>
            <a:ext cx="557784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Editare produs — câmpuri, prețuri, imagini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394960"/>
            <a:ext cx="557784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486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  <a:latin typeface="Calibri" panose="020F0502020204030204"/>
              </a:rPr>
              <a:t>Tabelă produse — lista completă din 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Baza de Date — Supabase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PostgreSQL managed · 5 tabele · conectat direct la Django</a:t>
            </a:r>
          </a:p>
        </p:txBody>
      </p:sp>
      <p:pic>
        <p:nvPicPr>
          <p:cNvPr id="6" name="Picture 5" descr="supabase-schema-hebmbohhyvhalleodp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029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0" y="1234440"/>
            <a:ext cx="6126480" cy="93268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0" y="1234440"/>
            <a:ext cx="6126480" cy="32918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289304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 panose="020F0502020204030204"/>
              </a:rPr>
              <a:t>produse</a:t>
            </a:r>
            <a:endParaRPr sz="1200" b="1" i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06440" y="1636776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podus_id · nume · descriere · pret · categorie · disponibil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313432"/>
            <a:ext cx="6126480" cy="93268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0" y="2313432"/>
            <a:ext cx="612648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2368296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 panose="020F0502020204030204"/>
              </a:rPr>
              <a:t>comenzi</a:t>
            </a:r>
            <a:endParaRPr sz="1200" b="1" i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06440" y="2715768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id · masa_id · status · total · created_at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392424"/>
            <a:ext cx="6126480" cy="93268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0" y="3392424"/>
            <a:ext cx="6126480" cy="329184"/>
          </a:xfrm>
          <a:prstGeom prst="rect">
            <a:avLst/>
          </a:prstGeom>
          <a:solidFill>
            <a:srgbClr val="06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3447288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 panose="020F0502020204030204"/>
              </a:rPr>
              <a:t>articole_comanda</a:t>
            </a:r>
            <a:endParaRPr sz="1200" b="1" i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6440" y="3794760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id · comanda_id · produs_id · cantitate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4471416"/>
            <a:ext cx="6126480" cy="93268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0" y="4471416"/>
            <a:ext cx="6126480" cy="32918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0" y="4526280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A0A12"/>
                </a:solidFill>
                <a:latin typeface="Calibri" panose="020F0502020204030204"/>
              </a:rPr>
              <a:t>mese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873752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id · nr_masa · token_qr · created_at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5550408"/>
            <a:ext cx="6126480" cy="932688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0" y="5550408"/>
            <a:ext cx="6126480" cy="32918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5605272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 panose="020F0502020204030204"/>
              </a:rPr>
              <a:t>staff_accounts</a:t>
            </a:r>
            <a:endParaRPr sz="1200" b="1" i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06440" y="5952744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id · username · password · role · nume_angajat · user_id(auth)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Diagrame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Modelarea sistemului — structură și comportament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8BFF"/>
                </a:solidFill>
                <a:latin typeface="Calibri" panose="020F0502020204030204"/>
              </a:rPr>
              <a:t>Diagrama de clase — Schema Baza de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852160" cy="5074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rama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57784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005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 panose="020F0502020204030204"/>
              </a:rPr>
              <a:t>Diagrama Use Case — Actorii și Interacțiunile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89888"/>
            <a:ext cx="5394960" cy="5074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iagrama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0876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AI Features — Implementate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Funcționalitățile AI integrate și funcționale în versiunea finală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4231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3533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✅ Implementat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 panose="020F0502020204030204"/>
              </a:rPr>
              <a:t>Agent AI 1 — Motor de Recomandari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303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Analizeaza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cosul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clientului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si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recomanda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UN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produs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complementar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via Gemini 2.</a:t>
            </a:r>
            <a:r>
              <a:rPr lang="en-US" sz="1100" b="0" i="0" dirty="0">
                <a:solidFill>
                  <a:srgbClr val="B0B8D0"/>
                </a:solidFill>
                <a:latin typeface="Calibri" panose="020F0502020204030204"/>
              </a:rPr>
              <a:t>5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Flash — vin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rosu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cu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friptura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,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bere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artizanala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cu pizza.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577840" cy="24231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40" y="13533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✅ Implementat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 panose="020F0502020204030204"/>
              </a:rPr>
              <a:t>Agent AI 2 — Predictii KDS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Gemini 2.0 Flash analizeaza comenzi active, tendinte 24h si stocuri critice. Genereaza predictii operationale pentru bucatari. Rezultatele se cacheza 15 minute.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24231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5778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4005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✅ Implementat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Calibri" panose="020F0502020204030204"/>
              </a:rPr>
              <a:t>Agent AI 2 — Modul Auto-86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La marcarea ca 'Servita', agentul scade automat stocurile ingredientelor. Produsele cu stoc epuizat sunt dezactivate automat din meniu (Auto-86).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577840" cy="24231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4005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✅ Implementat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 panose="020F0502020204030204"/>
              </a:rPr>
              <a:t>Agent AI 2 — Raport Zilnic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Gemini genereaza un raport executiv in 3 paragrafe la finalul zilei: vanzari totale, preparate vedeta si alerte stoc pentru ziua urmatoare.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Ce Am Realizat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Stadiul actual al proiectului — 2025–2026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Frontend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Pagini HTML/CSS elegante, responsive, cu Bootstrap 5 și Playfair Display.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99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Autentificare 3 roluri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Client (QR), Staff (ID+parolă), Admin (superuser Django).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56032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633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Meniu live din 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Produsele se încarcă automat din baza de date la fiecare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6032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56032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633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Coș de cumpărături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3580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Adăugare, editare cantitate, ștergere, total live, persistență localStorage.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867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Plasare comenzi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Comenzile se salvează în Supabase și apar în dashboard-ul Staff.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79476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379476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867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Search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7024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Căutare instant în produsele din meniu cu filtrare live.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2920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029200"/>
            <a:ext cx="45720" cy="1078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 panose="020F0502020204030204"/>
              </a:rPr>
              <a:t>✅  Panou Admin Django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0468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  <a:latin typeface="Calibri" panose="020F0502020204030204"/>
              </a:rPr>
              <a:t>CRUD complet pentru produse, utilizatori, comenzi.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029200"/>
            <a:ext cx="5577840" cy="107899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5029200"/>
            <a:ext cx="45720" cy="1078992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5102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F5C542"/>
                </a:solidFill>
                <a:latin typeface="Calibri" panose="020F0502020204030204"/>
              </a:rPr>
              <a:t>✅</a:t>
            </a:r>
            <a:r>
              <a:rPr sz="1300" b="1" i="0" dirty="0">
                <a:solidFill>
                  <a:srgbClr val="4ADE80"/>
                </a:solidFill>
                <a:latin typeface="Calibri" panose="020F0502020204030204"/>
              </a:rPr>
              <a:t>  Agent AI 1 + 2 — Implementati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04688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Agent AI 1 (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Ospatar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) + Agent AI 2 (Analytics,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statistici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pe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tendinte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si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pe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zile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) —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ambii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 integral </a:t>
            </a:r>
            <a:r>
              <a:rPr sz="1100" b="0" i="0" dirty="0" err="1">
                <a:solidFill>
                  <a:srgbClr val="B0B8D0"/>
                </a:solidFill>
                <a:latin typeface="Calibri" panose="020F0502020204030204"/>
              </a:rPr>
              <a:t>functionali</a:t>
            </a:r>
            <a:r>
              <a:rPr sz="1100" b="0" i="0" dirty="0">
                <a:solidFill>
                  <a:srgbClr val="B0B8D0"/>
                </a:solidFill>
                <a:latin typeface="Calibri" panose="020F0502020204030204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Agent AI 1 — Motor de Recomandari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Analizeaza cosul clientului si recomanda preparatul complementar perfect — via Gemini 2.0 Flash</a:t>
            </a:r>
          </a:p>
        </p:txBody>
      </p:sp>
      <p:sp>
        <p:nvSpPr>
          <p:cNvPr id="6" name="LeftCard"/>
          <p:cNvSpPr/>
          <p:nvPr/>
        </p:nvSpPr>
        <p:spPr>
          <a:xfrm>
            <a:off x="365760" y="1280160"/>
            <a:ext cx="5577840" cy="49800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eftHeader"/>
          <p:cNvSpPr/>
          <p:nvPr/>
        </p:nvSpPr>
        <p:spPr>
          <a:xfrm>
            <a:off x="365760" y="1280160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eftHeaderText"/>
          <p:cNvSpPr txBox="1"/>
          <p:nvPr/>
        </p:nvSpPr>
        <p:spPr>
          <a:xfrm>
            <a:off x="502920" y="1353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CE FACE</a:t>
            </a:r>
          </a:p>
        </p:txBody>
      </p:sp>
      <p:sp>
        <p:nvSpPr>
          <p:cNvPr id="9" name="LeftContent"/>
          <p:cNvSpPr txBox="1"/>
          <p:nvPr/>
        </p:nvSpPr>
        <p:spPr>
          <a:xfrm>
            <a:off x="502920" y="1737360"/>
            <a:ext cx="5212080" cy="4101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✅ </a:t>
            </a:r>
            <a:r>
              <a:rPr sz="1200" b="1" i="0" dirty="0" err="1">
                <a:solidFill>
                  <a:srgbClr val="22C55E"/>
                </a:solidFill>
                <a:latin typeface="Calibri" panose="020F0502020204030204"/>
              </a:rPr>
              <a:t>Recomandare</a:t>
            </a: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 </a:t>
            </a:r>
            <a:r>
              <a:rPr sz="1200" b="1" i="0" dirty="0" err="1">
                <a:solidFill>
                  <a:srgbClr val="22C55E"/>
                </a:solidFill>
                <a:latin typeface="Calibri" panose="020F0502020204030204"/>
              </a:rPr>
              <a:t>bazata</a:t>
            </a: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 pe cos</a:t>
            </a:r>
          </a:p>
          <a:p>
            <a:pPr algn="l">
              <a:lnSpc>
                <a:spcPts val="2400"/>
              </a:lnSpc>
            </a:pP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Agentul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analizeaza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produsele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din cos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si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alege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UN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singur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preparat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complementar</a:t>
            </a:r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  <a:p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✅ Logica tip sommelier</a:t>
            </a:r>
          </a:p>
          <a:p>
            <a:pPr algn="l">
              <a:lnSpc>
                <a:spcPts val="2400"/>
              </a:lnSpc>
            </a:pP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Daca are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friptura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→ vin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rosu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. Daca are pizza →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bere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artizanala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. Logica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culinara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injectata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direct in prompt.</a:t>
            </a:r>
          </a:p>
          <a:p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✅ Context </a:t>
            </a:r>
            <a:r>
              <a:rPr sz="1200" b="1" i="0" dirty="0" err="1">
                <a:solidFill>
                  <a:srgbClr val="22C55E"/>
                </a:solidFill>
                <a:latin typeface="Calibri" panose="020F0502020204030204"/>
              </a:rPr>
              <a:t>dinamic</a:t>
            </a: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 din </a:t>
            </a:r>
            <a:r>
              <a:rPr sz="1200" b="1" i="0" dirty="0" err="1">
                <a:solidFill>
                  <a:srgbClr val="22C55E"/>
                </a:solidFill>
                <a:latin typeface="Calibri" panose="020F0502020204030204"/>
              </a:rPr>
              <a:t>baza</a:t>
            </a: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 de date</a:t>
            </a:r>
          </a:p>
          <a:p>
            <a:pPr algn="l">
              <a:lnSpc>
                <a:spcPts val="2400"/>
              </a:lnSpc>
            </a:pP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Meniul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disponibil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e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incarcat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live la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fiecare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request;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produsele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deja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in cos sunt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excluse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automat din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optiuni</a:t>
            </a:r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  <a:p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 dirty="0">
                <a:solidFill>
                  <a:srgbClr val="22C55E"/>
                </a:solidFill>
                <a:latin typeface="Calibri" panose="020F0502020204030204"/>
              </a:rPr>
              <a:t>✅ Fallback automat la </a:t>
            </a:r>
            <a:r>
              <a:rPr sz="1200" b="1" i="0" dirty="0" err="1">
                <a:solidFill>
                  <a:srgbClr val="22C55E"/>
                </a:solidFill>
                <a:latin typeface="Calibri" panose="020F0502020204030204"/>
              </a:rPr>
              <a:t>erori</a:t>
            </a:r>
            <a:endParaRPr sz="1200" b="1" i="0" dirty="0">
              <a:solidFill>
                <a:srgbClr val="22C55E"/>
              </a:solidFill>
              <a:latin typeface="Calibri" panose="020F0502020204030204"/>
            </a:endParaRPr>
          </a:p>
          <a:p>
            <a:pPr algn="l">
              <a:lnSpc>
                <a:spcPts val="2400"/>
              </a:lnSpc>
            </a:pP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Daca Gemini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returneaza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JSON invalid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sau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atinge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limita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de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cereri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(429),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agentul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alege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automat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primul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produs</a:t>
            </a:r>
            <a:r>
              <a:rPr sz="1000" b="0" i="0" dirty="0">
                <a:solidFill>
                  <a:srgbClr val="B0B8D0"/>
                </a:solidFill>
                <a:latin typeface="Calibri" panose="020F0502020204030204"/>
              </a:rPr>
              <a:t> </a:t>
            </a:r>
            <a:r>
              <a:rPr sz="1000" b="0" i="0" dirty="0" err="1">
                <a:solidFill>
                  <a:srgbClr val="B0B8D0"/>
                </a:solidFill>
                <a:latin typeface="Calibri" panose="020F0502020204030204"/>
              </a:rPr>
              <a:t>disponibil</a:t>
            </a:r>
            <a:endParaRPr sz="1000" b="0" i="0" dirty="0">
              <a:solidFill>
                <a:srgbClr val="B0B8D0"/>
              </a:solidFill>
              <a:latin typeface="Calibri" panose="020F0502020204030204"/>
            </a:endParaRPr>
          </a:p>
        </p:txBody>
      </p:sp>
      <p:sp>
        <p:nvSpPr>
          <p:cNvPr id="10" name="RightCard"/>
          <p:cNvSpPr/>
          <p:nvPr/>
        </p:nvSpPr>
        <p:spPr>
          <a:xfrm>
            <a:off x="6263640" y="1280160"/>
            <a:ext cx="5577840" cy="49800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Header"/>
          <p:cNvSpPr/>
          <p:nvPr/>
        </p:nvSpPr>
        <p:spPr>
          <a:xfrm>
            <a:off x="6263640" y="1280160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erText"/>
          <p:cNvSpPr txBox="1"/>
          <p:nvPr/>
        </p:nvSpPr>
        <p:spPr>
          <a:xfrm>
            <a:off x="6400800" y="1353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FLUX TEHNIC</a:t>
            </a:r>
          </a:p>
        </p:txBody>
      </p:sp>
      <p:sp>
        <p:nvSpPr>
          <p:cNvPr id="13" name="RightContent"/>
          <p:cNvSpPr txBox="1"/>
          <p:nvPr/>
        </p:nvSpPr>
        <p:spPr>
          <a:xfrm>
            <a:off x="6400800" y="1737360"/>
            <a:ext cx="530352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1  Clientul apasa 'Recomanda-mi ceva'</a:t>
            </a:r>
          </a:p>
          <a:p>
            <a:pPr algn="l">
              <a:lnSpc>
                <a:spcPts val="2200"/>
              </a:lnSpc>
            </a:pPr>
            <a:r>
              <a:rPr sz="950" b="0" i="0">
                <a:solidFill>
                  <a:srgbClr val="B0B8D0"/>
                </a:solidFill>
                <a:latin typeface="Calibri" panose="020F0502020204030204"/>
              </a:rPr>
              <a:t>Butonul AI din pagina de meniu citeste produsele din cos (localStorage)</a:t>
            </a:r>
          </a:p>
          <a:p>
            <a:endParaRPr sz="95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2  Fetch API → POST /api/ai_recomandare/</a:t>
            </a:r>
          </a:p>
          <a:p>
            <a:pPr algn="l">
              <a:lnSpc>
                <a:spcPts val="2200"/>
              </a:lnSpc>
            </a:pPr>
            <a:r>
              <a:rPr sz="950" b="0" i="0">
                <a:solidFill>
                  <a:srgbClr val="B0B8D0"/>
                </a:solidFill>
                <a:latin typeface="Calibri" panose="020F0502020204030204"/>
              </a:rPr>
              <a:t>JSON cu id-urile si numele produselor din cosul curent</a:t>
            </a:r>
          </a:p>
          <a:p>
            <a:endParaRPr sz="95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3  Django filtreaza meniul disponibil</a:t>
            </a:r>
          </a:p>
          <a:p>
            <a:pPr algn="l">
              <a:lnSpc>
                <a:spcPts val="2200"/>
              </a:lnSpc>
            </a:pPr>
            <a:r>
              <a:rPr sz="950" b="0" i="0">
                <a:solidFill>
                  <a:srgbClr val="B0B8D0"/>
                </a:solidFill>
                <a:latin typeface="Calibri" panose="020F0502020204030204"/>
              </a:rPr>
              <a:t>Exclude produsele din cos si trimite lista disponibila + logica culinara catre Gemini</a:t>
            </a:r>
          </a:p>
          <a:p>
            <a:endParaRPr sz="95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4  Gemini 2.0 Flash alege 1 produs</a:t>
            </a:r>
          </a:p>
          <a:p>
            <a:pPr algn="l">
              <a:lnSpc>
                <a:spcPts val="2200"/>
              </a:lnSpc>
            </a:pPr>
            <a:r>
              <a:rPr sz="950" b="0" i="0">
                <a:solidFill>
                  <a:srgbClr val="B0B8D0"/>
                </a:solidFill>
                <a:latin typeface="Calibri" panose="020F0502020204030204"/>
              </a:rPr>
              <a:t>Raspunde strict JSON: {id_produs, motiv}. Django parseaza, valideaza si returneaza produsul</a:t>
            </a:r>
          </a:p>
          <a:p>
            <a:endParaRPr sz="95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100" b="1" i="0">
                <a:solidFill>
                  <a:srgbClr val="22C55E"/>
                </a:solidFill>
                <a:latin typeface="Calibri" panose="020F0502020204030204"/>
              </a:rPr>
              <a:t>5  UI afiseaza recomandarea + buton</a:t>
            </a:r>
          </a:p>
          <a:p>
            <a:pPr algn="l">
              <a:lnSpc>
                <a:spcPts val="2200"/>
              </a:lnSpc>
            </a:pPr>
            <a:r>
              <a:rPr sz="950" b="0" i="0">
                <a:solidFill>
                  <a:srgbClr val="B0B8D0"/>
                </a:solidFill>
                <a:latin typeface="Calibri" panose="020F0502020204030204"/>
              </a:rPr>
              <a:t>Clientul vede motivul AI si poate adauga direct produsul recomandat in cos cu un click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 panose="02040502050405020303"/>
              </a:rPr>
              <a:t>Agent AI 2 — Analytics &amp; Statistici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8046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0"/>
                </a:solidFill>
                <a:latin typeface="Calibri" panose="020F0502020204030204"/>
              </a:rPr>
              <a:t>Motor operational cu 4 module: tendinte 24h, auto-prioritizare comenzi, stoc automat si raport zilnic Gemini</a:t>
            </a:r>
          </a:p>
        </p:txBody>
      </p:sp>
      <p:sp>
        <p:nvSpPr>
          <p:cNvPr id="6" name="LeftCard"/>
          <p:cNvSpPr/>
          <p:nvPr/>
        </p:nvSpPr>
        <p:spPr>
          <a:xfrm>
            <a:off x="365760" y="1280160"/>
            <a:ext cx="5577840" cy="49800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eftHeaderBG"/>
          <p:cNvSpPr/>
          <p:nvPr/>
        </p:nvSpPr>
        <p:spPr>
          <a:xfrm>
            <a:off x="365760" y="1280160"/>
            <a:ext cx="55778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eftHeaderText"/>
          <p:cNvSpPr txBox="1"/>
          <p:nvPr/>
        </p:nvSpPr>
        <p:spPr>
          <a:xfrm>
            <a:off x="502920" y="1353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TENDINTE &amp; PRIORITIZARE AUTOMATA</a:t>
            </a:r>
          </a:p>
        </p:txBody>
      </p:sp>
      <p:sp>
        <p:nvSpPr>
          <p:cNvPr id="9" name="LeftContent"/>
          <p:cNvSpPr txBox="1"/>
          <p:nvPr/>
        </p:nvSpPr>
        <p:spPr>
          <a:xfrm>
            <a:off x="502920" y="1737360"/>
            <a:ext cx="521208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A78BFA"/>
                </a:solidFill>
                <a:latin typeface="Calibri" panose="020F0502020204030204"/>
              </a:rPr>
              <a:t>📊  calculeaza_tendinte()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Compara comenzile din ultimele 24h cu ziua anterioara. Calculeaza procentul de crestere/scadere per produs si returneaza top 6.</a:t>
            </a: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A78BFA"/>
                </a:solidFill>
                <a:latin typeface="Calibri" panose="020F0502020204030204"/>
              </a:rPr>
              <a:t>📈  Directia tendintei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Produs cu &gt;105% → 'up'. Sub 95% → 'down'. Produs nou fara istoric → 200% (crestere semnificativa).</a:t>
            </a: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A78BFA"/>
                </a:solidFill>
                <a:latin typeface="Calibri" panose="020F0502020204030204"/>
              </a:rPr>
              <a:t>⏱  Auto-prioritizare comenzi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Comenzile active &gt;20 minute sunt marcate automat ca 'urgente' si surclasiificate in dashboard</a:t>
            </a: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A78BFA"/>
                </a:solidFill>
                <a:latin typeface="Calibri" panose="020F0502020204030204"/>
              </a:rPr>
              <a:t>🔴  Scadere stocuri automata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La 'Servita', agentul apeleaza comanda.scade_stocuri() si actualizeaza cantitatile din BD</a:t>
            </a:r>
          </a:p>
        </p:txBody>
      </p:sp>
      <p:sp>
        <p:nvSpPr>
          <p:cNvPr id="10" name="RightCard"/>
          <p:cNvSpPr/>
          <p:nvPr/>
        </p:nvSpPr>
        <p:spPr>
          <a:xfrm>
            <a:off x="6263640" y="1280160"/>
            <a:ext cx="5577840" cy="49800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HeaderBG"/>
          <p:cNvSpPr/>
          <p:nvPr/>
        </p:nvSpPr>
        <p:spPr>
          <a:xfrm>
            <a:off x="6263640" y="1280160"/>
            <a:ext cx="5577840" cy="38404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ightHeaderText"/>
          <p:cNvSpPr txBox="1"/>
          <p:nvPr/>
        </p:nvSpPr>
        <p:spPr>
          <a:xfrm>
            <a:off x="6400800" y="13533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MODUL AUTO-86 &amp; RAPORT GEMINI</a:t>
            </a:r>
          </a:p>
        </p:txBody>
      </p:sp>
      <p:sp>
        <p:nvSpPr>
          <p:cNvPr id="13" name="RightContent"/>
          <p:cNvSpPr txBox="1"/>
          <p:nvPr/>
        </p:nvSpPr>
        <p:spPr>
          <a:xfrm>
            <a:off x="6400800" y="1737360"/>
            <a:ext cx="530352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60A5FA"/>
                </a:solidFill>
                <a:latin typeface="Calibri" panose="020F0502020204030204"/>
              </a:rPr>
              <a:t>🚫  Auto-86: dezactivare produs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Daca un ingredient scade sub prag, produsele care il contin sunt dezactivate automat din meniu</a:t>
            </a: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r>
              <a:rPr sz="1200" b="1" i="0">
                <a:solidFill>
                  <a:srgbClr val="60A5FA"/>
                </a:solidFill>
                <a:latin typeface="Calibri" panose="020F0502020204030204"/>
              </a:rPr>
              <a:t>📋  Raport de sfarsit de zi</a:t>
            </a:r>
          </a:p>
          <a:p>
            <a:pPr algn="l">
              <a:lnSpc>
                <a:spcPts val="2200"/>
              </a:lnSpc>
            </a:pPr>
            <a:r>
              <a:rPr sz="1000" b="0" i="0">
                <a:solidFill>
                  <a:srgbClr val="B0B8D0"/>
                </a:solidFill>
                <a:latin typeface="Calibri" panose="020F0502020204030204"/>
              </a:rPr>
              <a:t>Gemini genereaza un raport in 3 paragrafe: vanzari totale, preparate vedeta si alerte stoc pentru ziua urmatoare</a:t>
            </a: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endParaRPr sz="1200" b="1" i="0">
              <a:solidFill>
                <a:srgbClr val="60A5FA"/>
              </a:solidFill>
              <a:latin typeface="Calibri" panose="020F0502020204030204"/>
            </a:endParaRPr>
          </a:p>
          <a:p>
            <a:pPr algn="l">
              <a:lnSpc>
                <a:spcPts val="2200"/>
              </a:lnSpc>
            </a:pPr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endParaRPr sz="1000" b="0" i="0">
              <a:solidFill>
                <a:srgbClr val="B0B8D0"/>
              </a:solidFill>
              <a:latin typeface="Calibri" panose="020F0502020204030204"/>
            </a:endParaRPr>
          </a:p>
          <a:p>
            <a:pPr algn="l">
              <a:lnSpc>
                <a:spcPts val="2800"/>
              </a:lnSpc>
            </a:pPr>
            <a:endParaRPr sz="1200" b="1" i="0">
              <a:solidFill>
                <a:srgbClr val="60A5FA"/>
              </a:solidFill>
              <a:latin typeface="Calibri" panose="020F0502020204030204"/>
            </a:endParaRPr>
          </a:p>
          <a:p>
            <a:pPr algn="l">
              <a:lnSpc>
                <a:spcPts val="2200"/>
              </a:lnSpc>
            </a:pPr>
            <a:endParaRPr sz="1000" b="0" i="0">
              <a:solidFill>
                <a:srgbClr val="B0B8D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0" y="-457200"/>
            <a:ext cx="6400800" cy="6400800"/>
          </a:xfrm>
          <a:prstGeom prst="ellipse">
            <a:avLst/>
          </a:prstGeom>
          <a:solidFill>
            <a:srgbClr val="10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 panose="02040502050405020303"/>
              </a:rPr>
              <a:t>A La Carte.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657600" cy="457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8229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0" i="1" dirty="0" err="1">
                <a:solidFill>
                  <a:srgbClr val="B0B8D0"/>
                </a:solidFill>
                <a:latin typeface="Georgia" panose="02040502050405020303"/>
              </a:rPr>
              <a:t>Digitaliz</a:t>
            </a:r>
            <a:r>
              <a:rPr lang="en-US" sz="2000" i="1" dirty="0" err="1">
                <a:solidFill>
                  <a:srgbClr val="B0B8D0"/>
                </a:solidFill>
                <a:latin typeface="Georgia" panose="02040502050405020303"/>
              </a:rPr>
              <a:t>eaz</a:t>
            </a:r>
            <a:r>
              <a:rPr lang="ro-RO" sz="2000" i="1" dirty="0">
                <a:solidFill>
                  <a:srgbClr val="B0B8D0"/>
                </a:solidFill>
                <a:latin typeface="Georgia" panose="02040502050405020303"/>
              </a:rPr>
              <a:t>ă</a:t>
            </a:r>
            <a:r>
              <a:rPr sz="2000" b="0" i="1" dirty="0">
                <a:solidFill>
                  <a:srgbClr val="B0B8D0"/>
                </a:solidFill>
                <a:latin typeface="Georgia" panose="02040502050405020303"/>
              </a:rPr>
              <a:t> </a:t>
            </a:r>
            <a:r>
              <a:rPr sz="2000" b="0" i="1" dirty="0" err="1">
                <a:solidFill>
                  <a:srgbClr val="B0B8D0"/>
                </a:solidFill>
                <a:latin typeface="Georgia" panose="02040502050405020303"/>
              </a:rPr>
              <a:t>experiența</a:t>
            </a:r>
            <a:r>
              <a:rPr sz="2000" b="0" i="1" dirty="0">
                <a:solidFill>
                  <a:srgbClr val="B0B8D0"/>
                </a:solidFill>
                <a:latin typeface="Georgia" panose="02040502050405020303"/>
              </a:rPr>
              <a:t> </a:t>
            </a:r>
            <a:r>
              <a:rPr sz="2000" b="0" i="1" dirty="0" err="1">
                <a:solidFill>
                  <a:srgbClr val="B0B8D0"/>
                </a:solidFill>
                <a:latin typeface="Georgia" panose="02040502050405020303"/>
              </a:rPr>
              <a:t>restaurantului</a:t>
            </a:r>
            <a:r>
              <a:rPr sz="2000" b="0" i="1" dirty="0">
                <a:solidFill>
                  <a:srgbClr val="B0B8D0"/>
                </a:solidFill>
                <a:latin typeface="Georgia" panose="02040502050405020303"/>
              </a:rPr>
              <a:t>.</a:t>
            </a:r>
            <a:endParaRPr lang="en-US" sz="2000" b="0" i="1" dirty="0">
              <a:solidFill>
                <a:srgbClr val="B0B8D0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A3A55"/>
                </a:solidFill>
                <a:latin typeface="Calibri" panose="020F0502020204030204"/>
              </a:rPr>
              <a:t>GitHub  ·  Django  ·  </a:t>
            </a:r>
            <a:r>
              <a:rPr sz="1100" b="0" i="0" dirty="0" err="1">
                <a:solidFill>
                  <a:srgbClr val="3A3A55"/>
                </a:solidFill>
                <a:latin typeface="Calibri" panose="020F0502020204030204"/>
              </a:rPr>
              <a:t>Supabase</a:t>
            </a:r>
            <a:r>
              <a:rPr sz="1100" b="0" i="0" dirty="0">
                <a:solidFill>
                  <a:srgbClr val="3A3A55"/>
                </a:solidFill>
                <a:latin typeface="Calibri" panose="020F0502020204030204"/>
              </a:rPr>
              <a:t>  ·  MDS 2025–2026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5C542"/>
                </a:solidFill>
                <a:latin typeface="Georgia" panose="02040502050405020303"/>
              </a:rPr>
              <a:t>Vă</a:t>
            </a:r>
            <a:r>
              <a:rPr sz="2800" b="1" i="0" dirty="0">
                <a:solidFill>
                  <a:srgbClr val="F5C542"/>
                </a:solidFill>
                <a:latin typeface="Georgia" panose="02040502050405020303"/>
              </a:rPr>
              <a:t> </a:t>
            </a:r>
            <a:r>
              <a:rPr sz="2800" b="1" i="0" dirty="0" err="1">
                <a:solidFill>
                  <a:srgbClr val="F5C542"/>
                </a:solidFill>
                <a:latin typeface="Georgia" panose="02040502050405020303"/>
              </a:rPr>
              <a:t>mulțumim</a:t>
            </a:r>
            <a:r>
              <a:rPr sz="2800" b="1" i="0" dirty="0">
                <a:solidFill>
                  <a:srgbClr val="F5C542"/>
                </a:solidFill>
                <a:latin typeface="Georgia" panose="02040502050405020303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1507</Words>
  <Application>Microsoft Office PowerPoint</Application>
  <PresentationFormat>Custom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 Petrescu</dc:creator>
  <dc:description>generated using python-pptx</dc:description>
  <cp:lastModifiedBy>CIPRIAN ADRIAN PETRESCU</cp:lastModifiedBy>
  <cp:revision>21</cp:revision>
  <dcterms:created xsi:type="dcterms:W3CDTF">2013-01-27T09:14:00Z</dcterms:created>
  <dcterms:modified xsi:type="dcterms:W3CDTF">2026-06-17T19:31:25Z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BD80471ABFA6491AA93CA665EA5694EF_12</vt:lpwstr>
  </property>
  <property fmtid="{D5CDD505-2E9C-101B-9397-08002B2CF9AE}" pid="3" name="KSOProductBuildVer">
    <vt:lpwstr>1033-12.1.0.26880</vt:lpwstr>
  </property>
</Properties>
</file>